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FFF"/>
                </a:solidFill>
                <a:latin typeface="Microsoft YaHei"/>
              </a:defRPr>
            </a:pPr>
            <a:r>
              <a:t>HSBC 培训项目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24128"/>
            <a:ext cx="1097280" cy="38100"/>
          </a:xfrm>
          <a:prstGeom prst="rect">
            <a:avLst/>
          </a:prstGeom>
          <a:solidFill>
            <a:srgbClr val="4F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2E8F0"/>
                </a:solidFill>
                <a:latin typeface="Microsoft YaHei"/>
              </a:defRPr>
            </a:pPr>
            <a:r>
              <a:t>支付处理系统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Microsoft YaHei"/>
              </a:defRPr>
            </a:pPr>
            <a:r>
              <a:t>Payment Processing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坚韧可靠 · 状态机驱动 · 全链路审计追踪 · AI 异常检测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37760"/>
            <a:ext cx="1828800" cy="41148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937760"/>
            <a:ext cx="1828800" cy="41148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4937760"/>
            <a:ext cx="1828800" cy="41148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MySQL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4937760"/>
            <a:ext cx="1828800" cy="41148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MyBatis-Plus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937760"/>
            <a:ext cx="1828800" cy="41148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AI 风控引擎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2026 年 7 月  |  蒋罗团队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FFF"/>
                </a:solidFill>
                <a:latin typeface="Microsoft YaHei"/>
              </a:defRPr>
            </a:pPr>
            <a:r>
              <a:t>故事的起点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1097280" cy="38100"/>
          </a:xfrm>
          <a:prstGeom prst="rect">
            <a:avLst/>
          </a:prstGeom>
          <a:solidFill>
            <a:srgbClr val="4F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Microsoft YaHei"/>
              </a:defRPr>
            </a:pPr>
            <a:r>
              <a:t>当支付出了问题...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想象一下：一位客户点击了「支付」按钮，网络闪断了一下。</a:t>
            </a:r>
            <a:br/>
            <a:r>
              <a:t>客户又点了一次。又点了一次。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icrosoft YaHei"/>
              </a:defRPr>
            </a:pPr>
            <a:r>
              <a:t>→ 一笔支付，三次扣款。没有审计记录。谁都说不清发生了什么。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3200400" cy="201168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389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Microsoft YaHei"/>
              </a:defRPr>
            </a:pPr>
            <a:r>
              <a:t>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37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Microsoft YaHei"/>
              </a:defRPr>
            </a:pPr>
            <a:r>
              <a:t>重复扣款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949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网络重试产生幽灵交易</a:t>
            </a:r>
            <a:br/>
            <a:r>
              <a:t>没有内置保护机制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206240"/>
            <a:ext cx="3200400" cy="201168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4389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Microsoft YaHei"/>
              </a:defRPr>
            </a:pPr>
            <a:r>
              <a:t>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937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Microsoft YaHei"/>
              </a:defRPr>
            </a:pPr>
            <a:r>
              <a:t>非法状态跳转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3949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已完成的支付被意外回退</a:t>
            </a:r>
            <a:br/>
            <a:r>
              <a:t>缺少状态强制机制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206240"/>
            <a:ext cx="3200400" cy="201168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4389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Microsoft YaHei"/>
              </a:defRPr>
            </a:pPr>
            <a:r>
              <a:t>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937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Microsoft YaHei"/>
              </a:defRPr>
            </a:pPr>
            <a:r>
              <a:t>风险盲区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3949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高风险交易悄然通过</a:t>
            </a:r>
            <a:br/>
            <a:r>
              <a:t>没有异常检测能力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FFF"/>
                </a:solidFill>
                <a:latin typeface="Microsoft YaHei"/>
              </a:defRPr>
            </a:pPr>
            <a:r>
              <a:t>我们的答案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1097280" cy="38100"/>
          </a:xfrm>
          <a:prstGeom prst="rect">
            <a:avLst/>
          </a:prstGeom>
          <a:solidFill>
            <a:srgbClr val="4F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Microsoft YaHei"/>
              </a:defRPr>
            </a:pPr>
            <a:r>
              <a:t>四大支柱：打造坚韧的支付系统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03520" cy="17373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651760"/>
            <a:ext cx="777240" cy="777240"/>
          </a:xfrm>
          <a:prstGeom prst="ellipse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Microsoft YaHei"/>
              </a:defRPr>
            </a:pPr>
            <a: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幂等键保障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063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每笔支付携带客户端生成的唯一键。相同键 = 相同结果。杜绝重复扣款。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17373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2651760"/>
            <a:ext cx="777240" cy="777240"/>
          </a:xfrm>
          <a:prstGeom prst="ellipse">
            <a:avLst/>
          </a:prstGeom>
          <a:solidFill>
            <a:srgbClr val="07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Microsoft YaHei"/>
              </a:defRPr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严格状态机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063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支付按定义好的生命周期流转。非法跳转在到达数据库之前就被拒绝。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89120"/>
            <a:ext cx="5303520" cy="17373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754880"/>
            <a:ext cx="777240" cy="777240"/>
          </a:xfrm>
          <a:prstGeom prst="ellipse">
            <a:avLst/>
          </a:prstGeom>
          <a:solidFill>
            <a:srgbClr val="251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完整审计追踪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1663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每次状态变更都记录：从哪、到哪、何时、为何。全链路可追溯，调试合规两不误。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389120"/>
            <a:ext cx="5303520" cy="173736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0" y="4754880"/>
            <a:ext cx="777240" cy="777240"/>
          </a:xfrm>
          <a:prstGeom prst="ellipse">
            <a:avLst/>
          </a:prstGeom>
          <a:solidFill>
            <a:srgbClr val="2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AI 风险检测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1663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三层渐进式分析：规则 → 统计 → 大模型。高风险交易被标记或阻止。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FFF"/>
                </a:solidFill>
                <a:latin typeface="Microsoft YaHei"/>
              </a:defRPr>
            </a:pPr>
            <a:r>
              <a:t>系统的脊梁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1097280" cy="38100"/>
          </a:xfrm>
          <a:prstGeom prst="rect">
            <a:avLst/>
          </a:prstGeom>
          <a:solidFill>
            <a:srgbClr val="4F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Microsoft YaHei"/>
              </a:defRPr>
            </a:pPr>
            <a:r>
              <a:t>支付状态机：禁止任何非法流转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828800" cy="1097280"/>
          </a:xfrm>
          <a:prstGeom prst="roundRect">
            <a:avLst/>
          </a:prstGeom>
          <a:solidFill>
            <a:srgbClr val="0A0B0D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Microsoft YaHei"/>
              </a:defRPr>
            </a:pPr>
            <a:r>
              <a:t>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286000"/>
            <a:ext cx="1828800" cy="1097280"/>
          </a:xfrm>
          <a:prstGeom prst="roundRect">
            <a:avLst/>
          </a:prstGeom>
          <a:solidFill>
            <a:srgbClr val="070E19"/>
          </a:solidFill>
          <a:ln w="25400">
            <a:solidFill>
              <a:srgbClr val="4F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5146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8FFF"/>
                </a:solidFill>
                <a:latin typeface="Microsoft YaHei"/>
              </a:defRPr>
            </a:pPr>
            <a:r>
              <a:t>VALIDATED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286000"/>
            <a:ext cx="1828800" cy="1097280"/>
          </a:xfrm>
          <a:prstGeom prst="roundRect">
            <a:avLst/>
          </a:prstGeom>
          <a:solidFill>
            <a:srgbClr val="191303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25146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286000"/>
            <a:ext cx="1828800" cy="1097280"/>
          </a:xfrm>
          <a:prstGeom prst="roundRect">
            <a:avLst/>
          </a:prstGeom>
          <a:solidFill>
            <a:srgbClr val="05150F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25146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286000"/>
            <a:ext cx="1828800" cy="1097280"/>
          </a:xfrm>
          <a:prstGeom prst="roundRect">
            <a:avLst/>
          </a:prstGeom>
          <a:solidFill>
            <a:srgbClr val="180B0B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5146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7171"/>
                </a:solidFill>
                <a:latin typeface="Microsoft YaHei"/>
              </a:defRPr>
            </a:pPr>
            <a:r>
              <a:t>FAILED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51760" y="269748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4937760" y="269748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223760" y="269748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send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complete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463040" y="3520440"/>
            <a:ext cx="201168" cy="502920"/>
          </a:xfrm>
          <a:prstGeom prst="down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3749039" y="3520440"/>
            <a:ext cx="201168" cy="502920"/>
          </a:xfrm>
          <a:prstGeom prst="down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6035040" y="3520440"/>
            <a:ext cx="201168" cy="502920"/>
          </a:xfrm>
          <a:prstGeom prst="down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7171"/>
                </a:solidFill>
                <a:latin typeface="Microsoft YaHei"/>
              </a:defRPr>
            </a:pPr>
            <a:r>
              <a:t>任何阶段均可失败  →  FAILED  →  重试回到 VALIDATED（需新幂等键）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Microsoft YaHei"/>
              </a:defRPr>
            </a:pPr>
            <a:r>
              <a:t>← retry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Microsoft YaHei"/>
              </a:defRPr>
            </a:pPr>
            <a:r>
              <a:t>状态转换矩阵（✓=合法  ✗=非法）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663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2788920" y="51663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t>CREATED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1663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t>VALIDATED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51663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t>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1663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t>COMPLETED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1663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t>FAILED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223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t>CREATED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4223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4223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54223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4223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4223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67842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t>VALIDATED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567842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67842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567842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67842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567842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9344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t>SENT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8920" y="59344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9344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9344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9344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59344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61904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t>COMPLETED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88920" y="61904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61904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61904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61904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61904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6446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Microsoft YaHei"/>
              </a:defRPr>
            </a:pPr>
            <a:r>
              <a:t>FAILED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6446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6446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4D39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60" y="6446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6446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87171"/>
                </a:solidFill>
                <a:latin typeface="Microsoft YaHei"/>
              </a:defRPr>
            </a:pPr>
            <a:r>
              <a:t>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6446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FFF"/>
                </a:solidFill>
                <a:latin typeface="Microsoft YaHei"/>
              </a:defRPr>
            </a:pPr>
            <a:r>
              <a:t>杜绝重复扣款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1097280" cy="38100"/>
          </a:xfrm>
          <a:prstGeom prst="rect">
            <a:avLst/>
          </a:prstGeom>
          <a:solidFill>
            <a:srgbClr val="4F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Microsoft YaHei"/>
              </a:defRPr>
            </a:pPr>
            <a:r>
              <a:t>幂等性：相同的键，相同的结果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当客户不小心点了两次「支付」，系统会发生什么？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10332720" cy="365760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Microsoft YaHei"/>
              </a:defRPr>
            </a:pPr>
            <a:r>
              <a:t>客户端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880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Microsoft YaHei"/>
              </a:defRPr>
            </a:pPr>
            <a:r>
              <a:t>服务端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880360"/>
            <a:ext cx="2540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请求 1:  POST /api/payments  +  Idempotency-Key: abc-123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337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8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83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处理请求，创建支付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Consolas"/>
              </a:defRPr>
            </a:pPr>
            <a:r>
              <a:t>← 201 Created  { id: pay-001, status: CREATED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请求 2:  POST /api/payments  +  相同的键: abc-123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8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onsolas"/>
              </a:defRPr>
            </a:pPr>
            <a:r>
              <a:t>← 200 OK  { id: pay-001 ... }  已存在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983480"/>
            <a:ext cx="978408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8FFF"/>
                </a:solidFill>
                <a:latin typeface="Microsoft YaHei"/>
              </a:defRPr>
            </a:pPr>
            <a:r>
              <a:t>关键原理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8640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① 客户端为每次逻辑操作生成唯一 UUID 作为幂等键</a:t>
            </a:r>
            <a:br/>
            <a:r>
              <a:t>② 服务端先查幂等键：存在则直接返回已有结果；不存在则执行逻辑并存储</a:t>
            </a:r>
            <a:br/>
            <a:r>
              <a:t>③ 并发保护：MySQL 唯一约束确保同一时刻只有一个请求能写入成功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FFF"/>
                </a:solidFill>
                <a:latin typeface="Microsoft YaHei"/>
              </a:defRPr>
            </a:pPr>
            <a:r>
              <a:t>不止于基础功能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1097280" cy="38100"/>
          </a:xfrm>
          <a:prstGeom prst="rect">
            <a:avLst/>
          </a:prstGeom>
          <a:solidFill>
            <a:srgbClr val="4F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Microsoft YaHei"/>
              </a:defRPr>
            </a:pPr>
            <a:r>
              <a:t>AI 驱动：三层渐进式风险评估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在支付进入 VALIDATED 状态之前，系统自动执行三层风险分析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3200400" cy="256032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48840" y="2468880"/>
            <a:ext cx="457200" cy="457200"/>
          </a:xfrm>
          <a:prstGeom prst="ellipse">
            <a:avLst/>
          </a:prstGeom>
          <a:solidFill>
            <a:srgbClr val="4F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Microsoft YaHei"/>
              </a:defRPr>
            </a:pPr>
            <a:r>
              <a:t>规则引擎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F8FFF"/>
                </a:solidFill>
                <a:latin typeface="Microsoft YaHei"/>
              </a:defRPr>
            </a:pPr>
            <a:r>
              <a:t>必选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490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5 条启发式规则：金额异常、深夜交易、</a:t>
            </a:r>
            <a:br/>
            <a:r>
              <a:t>新收款人、高频突击、大额阈值。</a:t>
            </a:r>
            <a:br/>
            <a:br/>
            <a:r>
              <a:t>微秒级捕获已知风险模式。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651760"/>
            <a:ext cx="3200400" cy="256032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0" y="24688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63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Microsoft YaHei"/>
              </a:defRPr>
            </a:pPr>
            <a:r>
              <a:t>统计分析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832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  <a:latin typeface="Microsoft YaHei"/>
              </a:defRPr>
            </a:pPr>
            <a:r>
              <a:t>推荐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490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Z 分数偏离 + IQR 离群检测，</a:t>
            </a:r>
            <a:br/>
            <a:r>
              <a:t>基于近 90 天账户历史。</a:t>
            </a:r>
            <a:br/>
            <a:br/>
            <a:r>
              <a:t>无需预设规则即可发现异常行为。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651760"/>
            <a:ext cx="3200400" cy="256032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0" y="246888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063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Microsoft YaHei"/>
              </a:defRPr>
            </a:pPr>
            <a:r>
              <a:t>大模型推理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3832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7171"/>
                </a:solidFill>
                <a:latin typeface="Microsoft YaHei"/>
              </a:defRPr>
            </a:pPr>
            <a:r>
              <a:t>可选 / 加分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490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调用 Claude API 进行语境推理，</a:t>
            </a:r>
            <a:br/>
            <a:r>
              <a:t>处理边界模糊的复杂场景。</a:t>
            </a:r>
            <a:br/>
            <a:br/>
            <a:r>
              <a:t>对模糊交易进行人类水平的判断。</a:t>
            </a:r>
          </a:p>
        </p:txBody>
      </p:sp>
      <p:sp>
        <p:nvSpPr>
          <p:cNvPr id="24" name="Oval 23"/>
          <p:cNvSpPr/>
          <p:nvPr/>
        </p:nvSpPr>
        <p:spPr>
          <a:xfrm>
            <a:off x="1371600" y="5486400"/>
            <a:ext cx="1005840" cy="1005840"/>
          </a:xfrm>
          <a:prstGeom prst="ellipse">
            <a:avLst/>
          </a:prstGeom>
          <a:solidFill>
            <a:srgbClr val="061912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669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4D399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080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4D399"/>
                </a:solidFill>
                <a:latin typeface="Microsoft YaHei"/>
              </a:defRPr>
            </a:pPr>
            <a:r>
              <a:t>低风险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532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示例：正常支付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8521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• 金额: $100 (正常范围内)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6053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• 时间: 14:30 (工作时间)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625449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• 收款人: 已知账户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64556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Microsoft YaHei"/>
              </a:defRPr>
            </a:pPr>
            <a:r>
              <a:t>→ 建议: APPROVE（通过）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486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Microsoft YaHei"/>
              </a:defRPr>
            </a:pPr>
            <a:r>
              <a:t>LOW (0-39)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486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APPROVE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正常流转到 VALIDATED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Microsoft YaHei"/>
              </a:defRPr>
            </a:pPr>
            <a:r>
              <a:t>MEDIUM (40-69)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852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5852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流转到 VALIDATED + 人工审核标记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217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Microsoft YaHei"/>
              </a:defRPr>
            </a:pPr>
            <a:r>
              <a:t>HIGH (70-100)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BLOCK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流转到 FAILED + 错误码 RISK_BLOCKED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FFF"/>
                </a:solidFill>
                <a:latin typeface="Microsoft YaHei"/>
              </a:defRPr>
            </a:pPr>
            <a:r>
              <a:t>为失败而设计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1097280" cy="38100"/>
          </a:xfrm>
          <a:prstGeom prst="rect">
            <a:avLst/>
          </a:prstGeom>
          <a:solidFill>
            <a:srgbClr val="4F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Microsoft YaHei"/>
              </a:defRPr>
            </a:pPr>
            <a:r>
              <a:t>每一步都有备选方案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7171"/>
                </a:solidFill>
                <a:latin typeface="Microsoft YaHei"/>
              </a:defRPr>
            </a:pPr>
            <a:r>
              <a:t>我们假设系统一定会出问题——所以提前计划好应对方案。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5303520" cy="164592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926080"/>
            <a:ext cx="594360" cy="594360"/>
          </a:xfrm>
          <a:prstGeom prst="ellipse">
            <a:avLst/>
          </a:prstGeom>
          <a:solidFill>
            <a:srgbClr val="09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880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事务完整性保障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918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每次状态转换 = status 更新 + 历史记录，</a:t>
            </a:r>
            <a:br/>
            <a:r>
              <a:t>包裹在单个 DB 事务中。</a:t>
            </a:r>
            <a:br/>
            <a:r>
              <a:t>→ 任何一步失败，全部回滚，不留孤儿状态。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51760"/>
            <a:ext cx="5303520" cy="164592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2926080"/>
            <a:ext cx="594360" cy="594360"/>
          </a:xfrm>
          <a:prstGeom prst="ellipse">
            <a:avLst/>
          </a:prstGeom>
          <a:solidFill>
            <a:srgbClr val="1E1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9718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880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指数退避重试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2918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客户端重试策略：</a:t>
            </a:r>
            <a:br/>
            <a:r>
              <a:t>1s → 2s → 4s → 8s（含随机抖动）</a:t>
            </a:r>
            <a:br/>
            <a:r>
              <a:t>→ 最多 3 次，复用相同幂等键。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5303520" cy="164592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892040"/>
            <a:ext cx="594360" cy="594360"/>
          </a:xfrm>
          <a:prstGeom prst="ellipse">
            <a:avLst/>
          </a:prstGeom>
          <a:solidFill>
            <a:srgbClr val="061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846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补偿动作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2578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SENT 状态发送失败 → FAILED → 新幂等键重试</a:t>
            </a:r>
            <a:br/>
            <a:r>
              <a:t>→ 回到 VALIDATED，重新进入正常流转。</a:t>
            </a:r>
            <a:br/>
            <a:r>
              <a:t>→ 失败支付干净地回到管道中。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617720"/>
            <a:ext cx="5303520" cy="1645920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0" y="4892040"/>
            <a:ext cx="594360" cy="594360"/>
          </a:xfrm>
          <a:prstGeom prst="ellipse">
            <a:avLst/>
          </a:prstGeom>
          <a:solidFill>
            <a:srgbClr val="1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9377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846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审计恢复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52578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status_history 表只追加不修改。</a:t>
            </a:r>
            <a:br/>
            <a:r>
              <a:t>每条记录: from → to + 时间戳 + 错误码。</a:t>
            </a:r>
            <a:br/>
            <a:r>
              <a:t>→ 任何时候都能完整还原支付历程。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24128"/>
            <a:ext cx="1097280" cy="38100"/>
          </a:xfrm>
          <a:prstGeom prst="rect">
            <a:avLst/>
          </a:prstGeom>
          <a:solidFill>
            <a:srgbClr val="4F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2E8F0"/>
                </a:solidFill>
                <a:latin typeface="Microsoft YaHei"/>
              </a:defRPr>
            </a:pPr>
            <a:r>
              <a:t>让每一笔支付，都值得信赖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一个永不重复扣款、永不丢失状态、</a:t>
            </a:r>
            <a:br/>
            <a:r>
              <a:t>在问题发生前就识别风险的系统。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206240"/>
            <a:ext cx="1554480" cy="347472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06240"/>
            <a:ext cx="1554480" cy="347472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Microsoft YaHei"/>
              </a:defRPr>
            </a:pPr>
            <a:r>
              <a:t>Vue 3 + Element Plus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206240"/>
            <a:ext cx="1554480" cy="347472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Microsoft YaHei"/>
              </a:defRPr>
            </a:pPr>
            <a:r>
              <a:t>MySQL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206240"/>
            <a:ext cx="1554480" cy="347472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Microsoft YaHei"/>
              </a:defRPr>
            </a:pPr>
            <a:r>
              <a:t>MyBatis-Plus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4206240"/>
            <a:ext cx="1554480" cy="347472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Microsoft YaHei"/>
              </a:defRPr>
            </a:pPr>
            <a:r>
              <a:t>状态机引擎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09160"/>
            <a:ext cx="1554480" cy="347472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Microsoft YaHei"/>
              </a:defRPr>
            </a:pPr>
            <a:r>
              <a:t>幂等性保障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709160"/>
            <a:ext cx="1554480" cy="347472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Microsoft YaHei"/>
              </a:defRPr>
            </a:pPr>
            <a:r>
              <a:t>审计追踪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709160"/>
            <a:ext cx="1554480" cy="347472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Microsoft YaHei"/>
              </a:defRPr>
            </a:pPr>
            <a:r>
              <a:t>AI 风控引擎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709160"/>
            <a:ext cx="1554480" cy="347472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Microsoft YaHei"/>
              </a:defRPr>
            </a:pPr>
            <a:r>
              <a:t>REST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709160"/>
            <a:ext cx="1554480" cy="347472"/>
          </a:xfrm>
          <a:prstGeom prst="roundRect">
            <a:avLst/>
          </a:prstGeom>
          <a:solidFill>
            <a:srgbClr val="141B2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  <a:latin typeface="Microsoft YaHei"/>
              </a:defRPr>
            </a:pPr>
            <a:r>
              <a:t>Swagger/OpenAPI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HSBC 培训团队  ·  2026 年 7 月  ·  感谢聆听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